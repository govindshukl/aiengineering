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AI/ML Center of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D7D31"/>
                </a:solidFill>
              </a:defRPr>
            </a:pPr>
            <a:r>
              <a:t>Charter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Bank ABC | Innovation &amp; Digitization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Executive Summary &amp; Strategic Mandate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Mission, Vision &amp; Objectives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Scope &amp; Ownership Areas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Organizational Structure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Core Team Roles &amp; Responsibilities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Federated Champion Network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Services Catalog &amp; SLAs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Success Metrics &amp; KPIs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Evolution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Charter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Formalizing AI governance and operational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Establishes the AI/ML CoE as the central governing body for all AI, ML, and Intelligent Automation initiatives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Operates under Innovation &amp; Digitization Department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Mandate to accelerate responsible AI adoption while ensuring regulatory compliance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Empowered to set standards, enable innovation, manage risk, build capability, and drive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Core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Lean Core, Federated Reach: Small central team with embedded champions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Enabler, Not Bottleneck: Streamlined processes with tiered approval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Responsible AI: Ethics, fairness, transparency embedded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Operational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Business-First: Technology decisions driven by business value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Continuous Learning: Adaptive approach with regular retrospectives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Risk-Based Governance: Proportionate controls by 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Mission &amp;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Mission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Our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Enable Bank ABC to become an AI-driven organization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Establish world-class governance frameworks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Provide scalable infrastructure and reusable assets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Build organization-wide AI capability and literacy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Ensure full regulatory compliance and responsible AI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Objectives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Establish governance framework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 core documents approved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Q1 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Launch AI/Automation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Platform 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Q2 2025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Certify AI practitioners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100% of practitioners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Q4 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Production AI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30+ active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Q4 2026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Reduce deployment time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50% reduction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Q4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Scope &amp; Ownership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CoE Ownership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Primary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AI Governance &amp; Policy: Framework, ethics, compliance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Model Risk Management: Inventory, validation, monitoring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Reusable Assets &amp; MLOps: Hub, pipelines,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Specialized Areas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Copilot &amp; GenAI Governance: Policies, prompts, controls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Specialized AI Domains: Fraud, Agentic AI, high-risk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AI Capability Building: Training, certification, CoP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Organizational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CoE Organizational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2651760" cy="548640"/>
          </a:xfrm>
          <a:prstGeom prst="roundRect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Chief Digital Officer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566160" cy="54864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AI/ML Steering Committee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834640"/>
            <a:ext cx="4480560" cy="6400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AI/ML Center of Excellence (5 FTEs)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1920240" cy="6400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CoE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657600"/>
            <a:ext cx="1920240" cy="6400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Architect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657600"/>
            <a:ext cx="1920240" cy="6400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Risk</a:t>
            </a:r>
            <a:br/>
            <a:r>
              <a:t>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59" y="3657600"/>
            <a:ext cx="1920240" cy="6400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Product</a:t>
            </a:r>
            <a:br/>
            <a:r>
              <a:t>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657600"/>
            <a:ext cx="1920240" cy="6400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Retail</a:t>
            </a:r>
            <a:br/>
            <a:r>
              <a:t>Champion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Corporate</a:t>
            </a:r>
            <a:br/>
            <a:r>
              <a:t>Champion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Treasury</a:t>
            </a:r>
            <a:br/>
            <a:r>
              <a:t>Champion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Ops</a:t>
            </a:r>
            <a:br/>
            <a:r>
              <a:t>Champion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Risk</a:t>
            </a:r>
            <a:br/>
            <a:r>
              <a:t>Champion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4754880"/>
            <a:ext cx="1691640" cy="594360"/>
          </a:xfrm>
          <a:prstGeom prst="roundRect">
            <a:avLst/>
          </a:prstGeom>
          <a:solidFill>
            <a:srgbClr val="90A4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Digital</a:t>
            </a:r>
            <a:br/>
            <a:r>
              <a:t>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04040"/>
                </a:solidFill>
              </a:defRPr>
            </a:pPr>
            <a:r>
              <a:t>Core Team: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04040"/>
                </a:solidFill>
              </a:defRPr>
            </a:pPr>
            <a:r>
              <a:t>Federated Champions (dotted-line):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577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04040"/>
                </a:solidFill>
              </a:defRPr>
            </a:pPr>
            <a:r>
              <a:t>Business Unit AI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Team Composition (5 FTEs)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Primary Focus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CoE Lead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Strategy, governance, stakeholder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Technical standards, MLOps, platform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Risk Specialist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Validation, inventory, compliance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Product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management, use case intake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Trainer/Enabler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0.5-1.0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Literacy programs, champion 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Federated Champion Network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Federated Champion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Extending CoE reach without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BU-embedded AI advocates with dotted-line reporting to CoE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Minimum 20% allocation to Champion responsibilities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Selection criteria: Senior level, domain expertise, technical aptitude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Local approval authority for Tier 3 initiatives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First-line support for Copilot and Hub users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Bi-weekly sync with CoE, quarterly workshops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Champion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Demand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Collect and prioritize AI use cases from BU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Submit use cases through intake process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Ensure BU compliance with CoE standards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Conduct local design reviews (Tier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Enablement &amp;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Cascade CoE training to BU teams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First-line support for Copilot users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Report challenges and improvements to CoE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Participate in CoP and knowledge sharing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Services Catalog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Services Catalog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Services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Use case intake, risk classification, gate reviews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CoE Lead / Product Manager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Architecture review, MLOps onboarding,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Architect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inventory, validation coordination, monitoring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Risk Specialist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Training programs, certification, CoP facilitation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Trainer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access, Copilot provisioning, usage analytics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Product Manager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SLA Commitments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Use case intake response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 business days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initial triage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risk assessment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Architecture review (Tier 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 business days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approval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Architecture review (Tier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 business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approval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Champion support response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 business day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acknowledge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Production incident (P1)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Time to engage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Success Metrics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21945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Active AI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04040"/>
                </a:solidFill>
              </a:defRPr>
            </a:pPr>
            <a:r>
              <a:t>30+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Production models by Q4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5303520" cy="21945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AI Practitioner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04040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All practitioners certified by Q4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5303520" cy="21945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7D31"/>
                </a:solidFill>
              </a:defRPr>
            </a:pPr>
            <a:r>
              <a:t>Regulatory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04040"/>
                </a:solidFill>
              </a:defRPr>
            </a:pPr>
            <a:r>
              <a:t>0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Zero critical AI-related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023360"/>
            <a:ext cx="5303520" cy="21945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Process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634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04040"/>
                </a:solidFill>
              </a:defRPr>
            </a:pPr>
            <a: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394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Coverage target by Year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Operational KPIs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Intake-to-production (Tier 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&lt; 8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Product Manager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Intake-to-production (Tier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&lt; 16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Product Manager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validation pass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80%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Risk Specialist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MLOps pipeline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Architect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monthly active users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Product Manager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Training satisfaction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&gt; 4.2 / 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AI Trainer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Evolution Roadmap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CoE Maturity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Characteristics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 Foundation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Governance framework, core team, basic platform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Q1 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2. 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launched, Champions active, training 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Q2-Q3 2025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3. Scale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20+ production use cases, self-service dominant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Q4 2025 - Q2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4.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MLOps Level 3, automated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Q3-Q4 2026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5. Innovation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Leading edge AI, industry leadership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2027+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Capability Roadmap 2025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Q1 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Framework v1.0 approved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MLOps foundation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Core team hired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Q2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Gate process 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v1.0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Champion network live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Q3 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inventory populated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Feature store v1.0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Level 1-2 training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Q4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Automated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Hub v2.0 self-service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Certification program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Summary: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Enabling responsible AI adoption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CoE established as central governing body for AI/ML and Automation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Lean core team (5 FTEs) with federated Champion network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Clear ownership of governance, platform, risk, and enablement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Tiered service model: Strategic, Standard, Self-Service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Defined SLAs and success metrics for accountability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Phased evolution from Foundation to Innovation leadership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04040"/>
                </a:solidFill>
              </a:defRPr>
            </a:pPr>
            <a:r>
              <a:t>Immediate actions for CoE establishment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Obtain charter approval from CDO and key stakeholders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Finalize core team hiring and onboarding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Identify and appoint Business Unit Champions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Launch AI/Automation Hub (Q2 2025)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Roll out AI Awareness training (Level 1)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Begin use case intake and pipeline building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D7D31"/>
                </a:solidFill>
              </a:defRPr>
            </a:pPr>
            <a:r>
              <a:t>AI Engineering Team | Innovation &amp; Digitization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